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omorrow Bold" charset="1" panose="00000000000000000000"/>
      <p:regular r:id="rId19"/>
    </p:embeddedFont>
    <p:embeddedFont>
      <p:font typeface="Tomorrow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1000125"/>
            <a:ext cx="6202264" cy="81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6"/>
              </a:lnSpc>
            </a:pPr>
            <a:r>
              <a:rPr lang="en-US" sz="5199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Escáner de Red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348153"/>
            <a:ext cx="7631732" cy="58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2999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Trabajo Práctico y Manual de Usuario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467188"/>
            <a:ext cx="5934207" cy="58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2999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Alumno: Lucas Haedo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143164"/>
            <a:ext cx="5934207" cy="58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2999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Materia: Redes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819141"/>
            <a:ext cx="5934207" cy="58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2999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Escuela Técnica Nº36 DE 15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16211" y="1000125"/>
            <a:ext cx="7398097" cy="803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Propósito del Programa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09045" y="3024361"/>
            <a:ext cx="14869910" cy="128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169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El escáner de red es una herramienta esencial diseñada para la identificación precisa de equipos activos dentro de un rango específico de direcciones IP. Este software facilita la monitorización y el diagnóstico de redes, proporcionando información clave sobre cada dispositivo.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4794424"/>
            <a:ext cx="123974" cy="123974"/>
            <a:chOff x="0" y="0"/>
            <a:chExt cx="165298" cy="1652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5354" cy="165354"/>
            </a:xfrm>
            <a:custGeom>
              <a:avLst/>
              <a:gdLst/>
              <a:ahLst/>
              <a:cxnLst/>
              <a:rect r="r" b="b" t="t" l="l"/>
              <a:pathLst>
                <a:path h="165354" w="165354">
                  <a:moveTo>
                    <a:pt x="0" y="82677"/>
                  </a:moveTo>
                  <a:cubicBezTo>
                    <a:pt x="0" y="36957"/>
                    <a:pt x="36957" y="0"/>
                    <a:pt x="82677" y="0"/>
                  </a:cubicBezTo>
                  <a:cubicBezTo>
                    <a:pt x="128397" y="0"/>
                    <a:pt x="165354" y="36957"/>
                    <a:pt x="165354" y="82677"/>
                  </a:cubicBezTo>
                  <a:cubicBezTo>
                    <a:pt x="165354" y="128397"/>
                    <a:pt x="128397" y="165354"/>
                    <a:pt x="82677" y="165354"/>
                  </a:cubicBezTo>
                  <a:cubicBezTo>
                    <a:pt x="36957" y="165354"/>
                    <a:pt x="0" y="128270"/>
                    <a:pt x="0" y="82677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64159" y="4653111"/>
            <a:ext cx="4855815" cy="78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Verificación de Conectividad (ICMP)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476" y="6155613"/>
            <a:ext cx="4931387" cy="2162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16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Utiliza el protocolo ICMP (Internet Control Message Protocol) para realizar pings, verificando la accesibilidad de cada dirección IP y calculando el tiempo de respuesta.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29982" y="4794424"/>
            <a:ext cx="123974" cy="123974"/>
            <a:chOff x="0" y="0"/>
            <a:chExt cx="165298" cy="1652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5354" cy="165354"/>
            </a:xfrm>
            <a:custGeom>
              <a:avLst/>
              <a:gdLst/>
              <a:ahLst/>
              <a:cxnLst/>
              <a:rect r="r" b="b" t="t" l="l"/>
              <a:pathLst>
                <a:path h="165354" w="165354">
                  <a:moveTo>
                    <a:pt x="0" y="82677"/>
                  </a:moveTo>
                  <a:cubicBezTo>
                    <a:pt x="0" y="36957"/>
                    <a:pt x="36957" y="0"/>
                    <a:pt x="82677" y="0"/>
                  </a:cubicBezTo>
                  <a:cubicBezTo>
                    <a:pt x="128397" y="0"/>
                    <a:pt x="165354" y="36957"/>
                    <a:pt x="165354" y="82677"/>
                  </a:cubicBezTo>
                  <a:cubicBezTo>
                    <a:pt x="165354" y="128397"/>
                    <a:pt x="128397" y="165354"/>
                    <a:pt x="82677" y="165354"/>
                  </a:cubicBezTo>
                  <a:cubicBezTo>
                    <a:pt x="36957" y="165354"/>
                    <a:pt x="0" y="128270"/>
                    <a:pt x="0" y="82677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901904" y="4653111"/>
            <a:ext cx="4742558" cy="39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Resolución de Nombres (DNS)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07413" y="6155613"/>
            <a:ext cx="4931538" cy="2162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16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Integra la resolución de nombres DNS mediante la funcionalidad InetAddress de Java, lo que permite asociar direcciones IP con nombres de host legibles.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67878" y="4794424"/>
            <a:ext cx="123974" cy="123974"/>
            <a:chOff x="0" y="0"/>
            <a:chExt cx="165298" cy="1652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5354" cy="165354"/>
            </a:xfrm>
            <a:custGeom>
              <a:avLst/>
              <a:gdLst/>
              <a:ahLst/>
              <a:cxnLst/>
              <a:rect r="r" b="b" t="t" l="l"/>
              <a:pathLst>
                <a:path h="165354" w="165354">
                  <a:moveTo>
                    <a:pt x="0" y="82677"/>
                  </a:moveTo>
                  <a:cubicBezTo>
                    <a:pt x="0" y="36957"/>
                    <a:pt x="36957" y="0"/>
                    <a:pt x="82677" y="0"/>
                  </a:cubicBezTo>
                  <a:cubicBezTo>
                    <a:pt x="128397" y="0"/>
                    <a:pt x="165354" y="36957"/>
                    <a:pt x="165354" y="82677"/>
                  </a:cubicBezTo>
                  <a:cubicBezTo>
                    <a:pt x="165354" y="128397"/>
                    <a:pt x="128397" y="165354"/>
                    <a:pt x="82677" y="165354"/>
                  </a:cubicBezTo>
                  <a:cubicBezTo>
                    <a:pt x="36957" y="165354"/>
                    <a:pt x="0" y="128270"/>
                    <a:pt x="0" y="82677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439799" y="4653111"/>
            <a:ext cx="4855964" cy="78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Visualización de Información Detallada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27762" y="5946063"/>
            <a:ext cx="4931538" cy="303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16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Presenta de manera clara la dirección IP, el nombre de host, el estado de conectividad (activo/inactivo) y el tiempo de respuesta en milisegundos, ofreciendo una visión completa del estado de la red.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060252"/>
            <a:ext cx="7405836" cy="75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4625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Arquitectura del Sistema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88975" y="3280751"/>
            <a:ext cx="8545239" cy="2679211"/>
            <a:chOff x="0" y="0"/>
            <a:chExt cx="10749955" cy="33704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050" y="19050"/>
              <a:ext cx="10711815" cy="3332353"/>
            </a:xfrm>
            <a:custGeom>
              <a:avLst/>
              <a:gdLst/>
              <a:ahLst/>
              <a:cxnLst/>
              <a:rect r="r" b="b" t="t" l="l"/>
              <a:pathLst>
                <a:path h="3332353" w="10711815">
                  <a:moveTo>
                    <a:pt x="0" y="47117"/>
                  </a:moveTo>
                  <a:cubicBezTo>
                    <a:pt x="0" y="21082"/>
                    <a:pt x="21336" y="0"/>
                    <a:pt x="47498" y="0"/>
                  </a:cubicBezTo>
                  <a:lnTo>
                    <a:pt x="10664317" y="0"/>
                  </a:lnTo>
                  <a:cubicBezTo>
                    <a:pt x="10690606" y="0"/>
                    <a:pt x="10711815" y="21082"/>
                    <a:pt x="10711815" y="47117"/>
                  </a:cubicBezTo>
                  <a:lnTo>
                    <a:pt x="10711815" y="3285236"/>
                  </a:lnTo>
                  <a:cubicBezTo>
                    <a:pt x="10711815" y="3311271"/>
                    <a:pt x="10690479" y="3332353"/>
                    <a:pt x="10664317" y="3332353"/>
                  </a:cubicBezTo>
                  <a:lnTo>
                    <a:pt x="47498" y="3332353"/>
                  </a:lnTo>
                  <a:cubicBezTo>
                    <a:pt x="21209" y="3332353"/>
                    <a:pt x="0" y="3311271"/>
                    <a:pt x="0" y="3285236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49915" cy="3370453"/>
            </a:xfrm>
            <a:custGeom>
              <a:avLst/>
              <a:gdLst/>
              <a:ahLst/>
              <a:cxnLst/>
              <a:rect r="r" b="b" t="t" l="l"/>
              <a:pathLst>
                <a:path h="3370453" w="10749915">
                  <a:moveTo>
                    <a:pt x="0" y="66167"/>
                  </a:moveTo>
                  <a:cubicBezTo>
                    <a:pt x="0" y="29464"/>
                    <a:pt x="29972" y="0"/>
                    <a:pt x="66548" y="0"/>
                  </a:cubicBezTo>
                  <a:lnTo>
                    <a:pt x="10683367" y="0"/>
                  </a:lnTo>
                  <a:lnTo>
                    <a:pt x="10683367" y="19050"/>
                  </a:lnTo>
                  <a:lnTo>
                    <a:pt x="10683367" y="0"/>
                  </a:lnTo>
                  <a:cubicBezTo>
                    <a:pt x="10719943" y="0"/>
                    <a:pt x="10749915" y="29464"/>
                    <a:pt x="10749915" y="66167"/>
                  </a:cubicBezTo>
                  <a:lnTo>
                    <a:pt x="10730865" y="66167"/>
                  </a:lnTo>
                  <a:lnTo>
                    <a:pt x="10749915" y="66167"/>
                  </a:lnTo>
                  <a:lnTo>
                    <a:pt x="10749915" y="3304286"/>
                  </a:lnTo>
                  <a:lnTo>
                    <a:pt x="10730865" y="3304286"/>
                  </a:lnTo>
                  <a:lnTo>
                    <a:pt x="10749915" y="3304286"/>
                  </a:lnTo>
                  <a:cubicBezTo>
                    <a:pt x="10749915" y="3340989"/>
                    <a:pt x="10719943" y="3370453"/>
                    <a:pt x="10683367" y="3370453"/>
                  </a:cubicBezTo>
                  <a:lnTo>
                    <a:pt x="10683367" y="3351403"/>
                  </a:lnTo>
                  <a:lnTo>
                    <a:pt x="10683367" y="3370453"/>
                  </a:lnTo>
                  <a:lnTo>
                    <a:pt x="66548" y="3370453"/>
                  </a:lnTo>
                  <a:lnTo>
                    <a:pt x="66548" y="3351403"/>
                  </a:lnTo>
                  <a:lnTo>
                    <a:pt x="66548" y="3370453"/>
                  </a:lnTo>
                  <a:cubicBezTo>
                    <a:pt x="29972" y="3370453"/>
                    <a:pt x="0" y="3340989"/>
                    <a:pt x="0" y="3304286"/>
                  </a:cubicBezTo>
                  <a:lnTo>
                    <a:pt x="0" y="66167"/>
                  </a:lnTo>
                  <a:lnTo>
                    <a:pt x="19050" y="66167"/>
                  </a:lnTo>
                  <a:lnTo>
                    <a:pt x="0" y="66167"/>
                  </a:lnTo>
                  <a:moveTo>
                    <a:pt x="38100" y="66167"/>
                  </a:moveTo>
                  <a:lnTo>
                    <a:pt x="38100" y="3304286"/>
                  </a:lnTo>
                  <a:lnTo>
                    <a:pt x="19050" y="3304286"/>
                  </a:lnTo>
                  <a:lnTo>
                    <a:pt x="38100" y="3304286"/>
                  </a:lnTo>
                  <a:cubicBezTo>
                    <a:pt x="38100" y="3319653"/>
                    <a:pt x="50673" y="3332353"/>
                    <a:pt x="66548" y="3332353"/>
                  </a:cubicBezTo>
                  <a:lnTo>
                    <a:pt x="10683367" y="3332353"/>
                  </a:lnTo>
                  <a:cubicBezTo>
                    <a:pt x="10699242" y="3332353"/>
                    <a:pt x="10711815" y="3319653"/>
                    <a:pt x="10711815" y="3304286"/>
                  </a:cubicBezTo>
                  <a:lnTo>
                    <a:pt x="10711815" y="66167"/>
                  </a:lnTo>
                  <a:cubicBezTo>
                    <a:pt x="10711815" y="50800"/>
                    <a:pt x="10699242" y="38100"/>
                    <a:pt x="10683367" y="38100"/>
                  </a:cubicBezTo>
                  <a:lnTo>
                    <a:pt x="66548" y="38100"/>
                  </a:lnTo>
                  <a:lnTo>
                    <a:pt x="66548" y="19050"/>
                  </a:lnTo>
                  <a:lnTo>
                    <a:pt x="66548" y="38100"/>
                  </a:lnTo>
                  <a:cubicBezTo>
                    <a:pt x="50673" y="38100"/>
                    <a:pt x="38100" y="50800"/>
                    <a:pt x="38100" y="66167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34404" y="3326180"/>
            <a:ext cx="8454381" cy="749264"/>
            <a:chOff x="0" y="0"/>
            <a:chExt cx="10635655" cy="9425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35615" cy="942594"/>
            </a:xfrm>
            <a:custGeom>
              <a:avLst/>
              <a:gdLst/>
              <a:ahLst/>
              <a:cxnLst/>
              <a:rect r="r" b="b" t="t" l="l"/>
              <a:pathLst>
                <a:path h="942594" w="10635615">
                  <a:moveTo>
                    <a:pt x="0" y="1397"/>
                  </a:moveTo>
                  <a:cubicBezTo>
                    <a:pt x="0" y="635"/>
                    <a:pt x="635" y="0"/>
                    <a:pt x="1397" y="0"/>
                  </a:cubicBezTo>
                  <a:lnTo>
                    <a:pt x="10634218" y="0"/>
                  </a:lnTo>
                  <a:cubicBezTo>
                    <a:pt x="10634980" y="0"/>
                    <a:pt x="10635615" y="635"/>
                    <a:pt x="10635615" y="1397"/>
                  </a:cubicBezTo>
                  <a:lnTo>
                    <a:pt x="10635615" y="941197"/>
                  </a:lnTo>
                  <a:cubicBezTo>
                    <a:pt x="10635615" y="941959"/>
                    <a:pt x="10634980" y="942594"/>
                    <a:pt x="10634218" y="942594"/>
                  </a:cubicBezTo>
                  <a:lnTo>
                    <a:pt x="1397" y="942594"/>
                  </a:lnTo>
                  <a:cubicBezTo>
                    <a:pt x="635" y="942594"/>
                    <a:pt x="0" y="941959"/>
                    <a:pt x="0" y="941197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574277" y="3514192"/>
            <a:ext cx="374631" cy="42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4"/>
              </a:lnSpc>
            </a:pPr>
            <a:r>
              <a:rPr lang="en-US" sz="2914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4106" y="4315620"/>
            <a:ext cx="3122459" cy="39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1"/>
              </a:lnSpc>
            </a:pPr>
            <a:r>
              <a:rPr lang="en-US" sz="25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Main.java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4106" y="4789204"/>
            <a:ext cx="7954976" cy="78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021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Punto de entrada de la aplicación, responsable de inicializar y lanzar la interfaz gráfica.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53629" y="3280751"/>
            <a:ext cx="8545396" cy="2679211"/>
            <a:chOff x="0" y="0"/>
            <a:chExt cx="10750153" cy="33704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9050" y="19050"/>
              <a:ext cx="10712069" cy="3332353"/>
            </a:xfrm>
            <a:custGeom>
              <a:avLst/>
              <a:gdLst/>
              <a:ahLst/>
              <a:cxnLst/>
              <a:rect r="r" b="b" t="t" l="l"/>
              <a:pathLst>
                <a:path h="3332353" w="10712069">
                  <a:moveTo>
                    <a:pt x="0" y="47117"/>
                  </a:moveTo>
                  <a:cubicBezTo>
                    <a:pt x="0" y="21082"/>
                    <a:pt x="21336" y="0"/>
                    <a:pt x="47498" y="0"/>
                  </a:cubicBezTo>
                  <a:lnTo>
                    <a:pt x="10664571" y="0"/>
                  </a:lnTo>
                  <a:cubicBezTo>
                    <a:pt x="10690860" y="0"/>
                    <a:pt x="10712069" y="21082"/>
                    <a:pt x="10712069" y="47117"/>
                  </a:cubicBezTo>
                  <a:lnTo>
                    <a:pt x="10712069" y="3285236"/>
                  </a:lnTo>
                  <a:cubicBezTo>
                    <a:pt x="10712069" y="3311271"/>
                    <a:pt x="10690733" y="3332353"/>
                    <a:pt x="10664571" y="3332353"/>
                  </a:cubicBezTo>
                  <a:lnTo>
                    <a:pt x="47498" y="3332353"/>
                  </a:lnTo>
                  <a:cubicBezTo>
                    <a:pt x="21209" y="3332353"/>
                    <a:pt x="0" y="3311271"/>
                    <a:pt x="0" y="3285236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50169" cy="3370453"/>
            </a:xfrm>
            <a:custGeom>
              <a:avLst/>
              <a:gdLst/>
              <a:ahLst/>
              <a:cxnLst/>
              <a:rect r="r" b="b" t="t" l="l"/>
              <a:pathLst>
                <a:path h="3370453" w="10750169">
                  <a:moveTo>
                    <a:pt x="0" y="66167"/>
                  </a:moveTo>
                  <a:cubicBezTo>
                    <a:pt x="0" y="29464"/>
                    <a:pt x="29972" y="0"/>
                    <a:pt x="66548" y="0"/>
                  </a:cubicBezTo>
                  <a:lnTo>
                    <a:pt x="10683621" y="0"/>
                  </a:lnTo>
                  <a:lnTo>
                    <a:pt x="10683621" y="19050"/>
                  </a:lnTo>
                  <a:lnTo>
                    <a:pt x="10683621" y="0"/>
                  </a:lnTo>
                  <a:cubicBezTo>
                    <a:pt x="10720197" y="0"/>
                    <a:pt x="10750169" y="29464"/>
                    <a:pt x="10750169" y="66167"/>
                  </a:cubicBezTo>
                  <a:lnTo>
                    <a:pt x="10731119" y="66167"/>
                  </a:lnTo>
                  <a:lnTo>
                    <a:pt x="10750169" y="66167"/>
                  </a:lnTo>
                  <a:lnTo>
                    <a:pt x="10750169" y="3304286"/>
                  </a:lnTo>
                  <a:lnTo>
                    <a:pt x="10731119" y="3304286"/>
                  </a:lnTo>
                  <a:lnTo>
                    <a:pt x="10750169" y="3304286"/>
                  </a:lnTo>
                  <a:cubicBezTo>
                    <a:pt x="10750169" y="3340989"/>
                    <a:pt x="10720197" y="3370453"/>
                    <a:pt x="10683621" y="3370453"/>
                  </a:cubicBezTo>
                  <a:lnTo>
                    <a:pt x="10683621" y="3351403"/>
                  </a:lnTo>
                  <a:lnTo>
                    <a:pt x="10683621" y="3370453"/>
                  </a:lnTo>
                  <a:lnTo>
                    <a:pt x="66548" y="3370453"/>
                  </a:lnTo>
                  <a:lnTo>
                    <a:pt x="66548" y="3351403"/>
                  </a:lnTo>
                  <a:lnTo>
                    <a:pt x="66548" y="3370453"/>
                  </a:lnTo>
                  <a:cubicBezTo>
                    <a:pt x="29972" y="3370453"/>
                    <a:pt x="0" y="3340989"/>
                    <a:pt x="0" y="3304286"/>
                  </a:cubicBezTo>
                  <a:lnTo>
                    <a:pt x="0" y="66167"/>
                  </a:lnTo>
                  <a:lnTo>
                    <a:pt x="19050" y="66167"/>
                  </a:lnTo>
                  <a:lnTo>
                    <a:pt x="0" y="66167"/>
                  </a:lnTo>
                  <a:moveTo>
                    <a:pt x="38100" y="66167"/>
                  </a:moveTo>
                  <a:lnTo>
                    <a:pt x="38100" y="3304286"/>
                  </a:lnTo>
                  <a:lnTo>
                    <a:pt x="19050" y="3304286"/>
                  </a:lnTo>
                  <a:lnTo>
                    <a:pt x="38100" y="3304286"/>
                  </a:lnTo>
                  <a:cubicBezTo>
                    <a:pt x="38100" y="3319653"/>
                    <a:pt x="50673" y="3332353"/>
                    <a:pt x="66548" y="3332353"/>
                  </a:cubicBezTo>
                  <a:lnTo>
                    <a:pt x="10683621" y="3332353"/>
                  </a:lnTo>
                  <a:cubicBezTo>
                    <a:pt x="10699496" y="3332353"/>
                    <a:pt x="10712069" y="3319653"/>
                    <a:pt x="10712069" y="3304286"/>
                  </a:cubicBezTo>
                  <a:lnTo>
                    <a:pt x="10712069" y="66167"/>
                  </a:lnTo>
                  <a:cubicBezTo>
                    <a:pt x="10712069" y="50800"/>
                    <a:pt x="10699496" y="38100"/>
                    <a:pt x="10683621" y="38100"/>
                  </a:cubicBezTo>
                  <a:lnTo>
                    <a:pt x="66548" y="38100"/>
                  </a:lnTo>
                  <a:lnTo>
                    <a:pt x="66548" y="19050"/>
                  </a:lnTo>
                  <a:lnTo>
                    <a:pt x="66548" y="38100"/>
                  </a:lnTo>
                  <a:cubicBezTo>
                    <a:pt x="50673" y="38100"/>
                    <a:pt x="38100" y="50800"/>
                    <a:pt x="38100" y="66167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299058" y="3326180"/>
            <a:ext cx="8454538" cy="749264"/>
            <a:chOff x="0" y="0"/>
            <a:chExt cx="10635853" cy="9425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35869" cy="942594"/>
            </a:xfrm>
            <a:custGeom>
              <a:avLst/>
              <a:gdLst/>
              <a:ahLst/>
              <a:cxnLst/>
              <a:rect r="r" b="b" t="t" l="l"/>
              <a:pathLst>
                <a:path h="942594" w="10635869">
                  <a:moveTo>
                    <a:pt x="0" y="1397"/>
                  </a:moveTo>
                  <a:cubicBezTo>
                    <a:pt x="0" y="635"/>
                    <a:pt x="635" y="0"/>
                    <a:pt x="1397" y="0"/>
                  </a:cubicBezTo>
                  <a:lnTo>
                    <a:pt x="10634472" y="0"/>
                  </a:lnTo>
                  <a:cubicBezTo>
                    <a:pt x="10635234" y="0"/>
                    <a:pt x="10635869" y="635"/>
                    <a:pt x="10635869" y="1397"/>
                  </a:cubicBezTo>
                  <a:lnTo>
                    <a:pt x="10635869" y="941197"/>
                  </a:lnTo>
                  <a:cubicBezTo>
                    <a:pt x="10635869" y="941959"/>
                    <a:pt x="10635234" y="942594"/>
                    <a:pt x="10634472" y="942594"/>
                  </a:cubicBezTo>
                  <a:lnTo>
                    <a:pt x="1397" y="942594"/>
                  </a:lnTo>
                  <a:cubicBezTo>
                    <a:pt x="635" y="942594"/>
                    <a:pt x="0" y="941959"/>
                    <a:pt x="0" y="941197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338932" y="3514192"/>
            <a:ext cx="374631" cy="42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4"/>
              </a:lnSpc>
            </a:pPr>
            <a:r>
              <a:rPr lang="en-US" sz="2914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48760" y="4315620"/>
            <a:ext cx="3122459" cy="39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1"/>
              </a:lnSpc>
            </a:pPr>
            <a:r>
              <a:rPr lang="en-US" sz="25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GUI.java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48760" y="4789204"/>
            <a:ext cx="7955134" cy="1196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021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Gestiona todos los elementos de la interfaz de usuario, incluyendo la interacción con el usuario y la presentación de resultados.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88975" y="6179377"/>
            <a:ext cx="8545239" cy="3078923"/>
            <a:chOff x="0" y="0"/>
            <a:chExt cx="10749955" cy="387330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9050" y="19050"/>
              <a:ext cx="10711814" cy="3835146"/>
            </a:xfrm>
            <a:custGeom>
              <a:avLst/>
              <a:gdLst/>
              <a:ahLst/>
              <a:cxnLst/>
              <a:rect r="r" b="b" t="t" l="l"/>
              <a:pathLst>
                <a:path h="3835146" w="10711814">
                  <a:moveTo>
                    <a:pt x="0" y="47117"/>
                  </a:moveTo>
                  <a:cubicBezTo>
                    <a:pt x="0" y="21082"/>
                    <a:pt x="21209" y="0"/>
                    <a:pt x="47371" y="0"/>
                  </a:cubicBezTo>
                  <a:lnTo>
                    <a:pt x="10664444" y="0"/>
                  </a:lnTo>
                  <a:cubicBezTo>
                    <a:pt x="10690606" y="0"/>
                    <a:pt x="10711814" y="21082"/>
                    <a:pt x="10711814" y="47117"/>
                  </a:cubicBezTo>
                  <a:lnTo>
                    <a:pt x="10711814" y="3788029"/>
                  </a:lnTo>
                  <a:cubicBezTo>
                    <a:pt x="10711814" y="3814064"/>
                    <a:pt x="10690606" y="3835146"/>
                    <a:pt x="10664444" y="3835146"/>
                  </a:cubicBezTo>
                  <a:lnTo>
                    <a:pt x="47371" y="3835146"/>
                  </a:lnTo>
                  <a:cubicBezTo>
                    <a:pt x="21209" y="3835146"/>
                    <a:pt x="0" y="3814064"/>
                    <a:pt x="0" y="3788029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49914" cy="3873246"/>
            </a:xfrm>
            <a:custGeom>
              <a:avLst/>
              <a:gdLst/>
              <a:ahLst/>
              <a:cxnLst/>
              <a:rect r="r" b="b" t="t" l="l"/>
              <a:pathLst>
                <a:path h="3873246" w="10749914">
                  <a:moveTo>
                    <a:pt x="0" y="66167"/>
                  </a:moveTo>
                  <a:cubicBezTo>
                    <a:pt x="0" y="29464"/>
                    <a:pt x="29845" y="0"/>
                    <a:pt x="66421" y="0"/>
                  </a:cubicBezTo>
                  <a:lnTo>
                    <a:pt x="10683494" y="0"/>
                  </a:lnTo>
                  <a:lnTo>
                    <a:pt x="10683494" y="19050"/>
                  </a:lnTo>
                  <a:lnTo>
                    <a:pt x="10683494" y="0"/>
                  </a:lnTo>
                  <a:cubicBezTo>
                    <a:pt x="10720070" y="0"/>
                    <a:pt x="10749914" y="29464"/>
                    <a:pt x="10749914" y="66167"/>
                  </a:cubicBezTo>
                  <a:lnTo>
                    <a:pt x="10730864" y="66167"/>
                  </a:lnTo>
                  <a:lnTo>
                    <a:pt x="10749914" y="66167"/>
                  </a:lnTo>
                  <a:lnTo>
                    <a:pt x="10749914" y="3807079"/>
                  </a:lnTo>
                  <a:lnTo>
                    <a:pt x="10730864" y="3807079"/>
                  </a:lnTo>
                  <a:lnTo>
                    <a:pt x="10749914" y="3807079"/>
                  </a:lnTo>
                  <a:cubicBezTo>
                    <a:pt x="10749914" y="3843782"/>
                    <a:pt x="10720070" y="3873246"/>
                    <a:pt x="10683494" y="3873246"/>
                  </a:cubicBezTo>
                  <a:lnTo>
                    <a:pt x="10683494" y="3854196"/>
                  </a:lnTo>
                  <a:lnTo>
                    <a:pt x="10683494" y="3873246"/>
                  </a:lnTo>
                  <a:lnTo>
                    <a:pt x="66421" y="3873246"/>
                  </a:lnTo>
                  <a:lnTo>
                    <a:pt x="66421" y="3854196"/>
                  </a:lnTo>
                  <a:lnTo>
                    <a:pt x="66421" y="3873246"/>
                  </a:lnTo>
                  <a:cubicBezTo>
                    <a:pt x="29845" y="3873246"/>
                    <a:pt x="0" y="3843782"/>
                    <a:pt x="0" y="3807079"/>
                  </a:cubicBezTo>
                  <a:lnTo>
                    <a:pt x="0" y="66167"/>
                  </a:lnTo>
                  <a:lnTo>
                    <a:pt x="19050" y="66167"/>
                  </a:lnTo>
                  <a:lnTo>
                    <a:pt x="0" y="66167"/>
                  </a:lnTo>
                  <a:moveTo>
                    <a:pt x="38100" y="66167"/>
                  </a:moveTo>
                  <a:lnTo>
                    <a:pt x="38100" y="3807079"/>
                  </a:lnTo>
                  <a:lnTo>
                    <a:pt x="19050" y="3807079"/>
                  </a:lnTo>
                  <a:lnTo>
                    <a:pt x="38100" y="3807079"/>
                  </a:lnTo>
                  <a:cubicBezTo>
                    <a:pt x="38100" y="3822446"/>
                    <a:pt x="50673" y="3835146"/>
                    <a:pt x="66421" y="3835146"/>
                  </a:cubicBezTo>
                  <a:lnTo>
                    <a:pt x="10683494" y="3835146"/>
                  </a:lnTo>
                  <a:cubicBezTo>
                    <a:pt x="10699242" y="3835146"/>
                    <a:pt x="10711814" y="3822446"/>
                    <a:pt x="10711814" y="3807079"/>
                  </a:cubicBezTo>
                  <a:lnTo>
                    <a:pt x="10711814" y="66167"/>
                  </a:lnTo>
                  <a:cubicBezTo>
                    <a:pt x="10711814" y="50800"/>
                    <a:pt x="10699242" y="38100"/>
                    <a:pt x="10683494" y="38100"/>
                  </a:cubicBezTo>
                  <a:lnTo>
                    <a:pt x="66421" y="38100"/>
                  </a:lnTo>
                  <a:lnTo>
                    <a:pt x="66421" y="19050"/>
                  </a:lnTo>
                  <a:lnTo>
                    <a:pt x="66421" y="38100"/>
                  </a:lnTo>
                  <a:cubicBezTo>
                    <a:pt x="50673" y="38100"/>
                    <a:pt x="38100" y="50800"/>
                    <a:pt x="38100" y="66167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34404" y="6224806"/>
            <a:ext cx="8454381" cy="749264"/>
            <a:chOff x="0" y="0"/>
            <a:chExt cx="10635655" cy="9425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35615" cy="942594"/>
            </a:xfrm>
            <a:custGeom>
              <a:avLst/>
              <a:gdLst/>
              <a:ahLst/>
              <a:cxnLst/>
              <a:rect r="r" b="b" t="t" l="l"/>
              <a:pathLst>
                <a:path h="942594" w="10635615">
                  <a:moveTo>
                    <a:pt x="0" y="1397"/>
                  </a:moveTo>
                  <a:cubicBezTo>
                    <a:pt x="0" y="635"/>
                    <a:pt x="635" y="0"/>
                    <a:pt x="1397" y="0"/>
                  </a:cubicBezTo>
                  <a:lnTo>
                    <a:pt x="10634218" y="0"/>
                  </a:lnTo>
                  <a:cubicBezTo>
                    <a:pt x="10634980" y="0"/>
                    <a:pt x="10635615" y="635"/>
                    <a:pt x="10635615" y="1397"/>
                  </a:cubicBezTo>
                  <a:lnTo>
                    <a:pt x="10635615" y="941197"/>
                  </a:lnTo>
                  <a:cubicBezTo>
                    <a:pt x="10635615" y="941959"/>
                    <a:pt x="10634980" y="942594"/>
                    <a:pt x="10634218" y="942594"/>
                  </a:cubicBezTo>
                  <a:lnTo>
                    <a:pt x="1397" y="942594"/>
                  </a:lnTo>
                  <a:cubicBezTo>
                    <a:pt x="635" y="942594"/>
                    <a:pt x="0" y="941959"/>
                    <a:pt x="0" y="941197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4574277" y="6412820"/>
            <a:ext cx="374631" cy="42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4"/>
              </a:lnSpc>
            </a:pPr>
            <a:r>
              <a:rPr lang="en-US" sz="2914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84106" y="7214247"/>
            <a:ext cx="3122459" cy="39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1"/>
              </a:lnSpc>
            </a:pPr>
            <a:r>
              <a:rPr lang="en-US" sz="25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RedScanner.java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84106" y="7687831"/>
            <a:ext cx="7954976" cy="1196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021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Contiene la lógica central del escaneo: ejecución de pings, resolución DNS y la funcionalidad para guardar datos en formato CSV.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53629" y="6179377"/>
            <a:ext cx="8545396" cy="3078923"/>
            <a:chOff x="0" y="0"/>
            <a:chExt cx="10750153" cy="387330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9050" y="19050"/>
              <a:ext cx="10711942" cy="3835146"/>
            </a:xfrm>
            <a:custGeom>
              <a:avLst/>
              <a:gdLst/>
              <a:ahLst/>
              <a:cxnLst/>
              <a:rect r="r" b="b" t="t" l="l"/>
              <a:pathLst>
                <a:path h="3835146" w="10711942">
                  <a:moveTo>
                    <a:pt x="0" y="47117"/>
                  </a:moveTo>
                  <a:cubicBezTo>
                    <a:pt x="0" y="21082"/>
                    <a:pt x="21209" y="0"/>
                    <a:pt x="47371" y="0"/>
                  </a:cubicBezTo>
                  <a:lnTo>
                    <a:pt x="10664571" y="0"/>
                  </a:lnTo>
                  <a:cubicBezTo>
                    <a:pt x="10690733" y="0"/>
                    <a:pt x="10711942" y="21082"/>
                    <a:pt x="10711942" y="47117"/>
                  </a:cubicBezTo>
                  <a:lnTo>
                    <a:pt x="10711942" y="3788029"/>
                  </a:lnTo>
                  <a:cubicBezTo>
                    <a:pt x="10711942" y="3814064"/>
                    <a:pt x="10690733" y="3835146"/>
                    <a:pt x="10664571" y="3835146"/>
                  </a:cubicBezTo>
                  <a:lnTo>
                    <a:pt x="47371" y="3835146"/>
                  </a:lnTo>
                  <a:cubicBezTo>
                    <a:pt x="21209" y="3835146"/>
                    <a:pt x="0" y="3814064"/>
                    <a:pt x="0" y="3788029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50042" cy="3873246"/>
            </a:xfrm>
            <a:custGeom>
              <a:avLst/>
              <a:gdLst/>
              <a:ahLst/>
              <a:cxnLst/>
              <a:rect r="r" b="b" t="t" l="l"/>
              <a:pathLst>
                <a:path h="3873246" w="10750042">
                  <a:moveTo>
                    <a:pt x="0" y="66167"/>
                  </a:moveTo>
                  <a:cubicBezTo>
                    <a:pt x="0" y="29464"/>
                    <a:pt x="29845" y="0"/>
                    <a:pt x="66421" y="0"/>
                  </a:cubicBezTo>
                  <a:lnTo>
                    <a:pt x="10683621" y="0"/>
                  </a:lnTo>
                  <a:lnTo>
                    <a:pt x="10683621" y="19050"/>
                  </a:lnTo>
                  <a:lnTo>
                    <a:pt x="10683621" y="0"/>
                  </a:lnTo>
                  <a:cubicBezTo>
                    <a:pt x="10720197" y="0"/>
                    <a:pt x="10750042" y="29464"/>
                    <a:pt x="10750042" y="66167"/>
                  </a:cubicBezTo>
                  <a:lnTo>
                    <a:pt x="10730992" y="66167"/>
                  </a:lnTo>
                  <a:lnTo>
                    <a:pt x="10750042" y="66167"/>
                  </a:lnTo>
                  <a:lnTo>
                    <a:pt x="10750042" y="3807079"/>
                  </a:lnTo>
                  <a:lnTo>
                    <a:pt x="10730992" y="3807079"/>
                  </a:lnTo>
                  <a:lnTo>
                    <a:pt x="10750042" y="3807079"/>
                  </a:lnTo>
                  <a:cubicBezTo>
                    <a:pt x="10750042" y="3843782"/>
                    <a:pt x="10720197" y="3873246"/>
                    <a:pt x="10683621" y="3873246"/>
                  </a:cubicBezTo>
                  <a:lnTo>
                    <a:pt x="10683621" y="3854196"/>
                  </a:lnTo>
                  <a:lnTo>
                    <a:pt x="10683621" y="3873246"/>
                  </a:lnTo>
                  <a:lnTo>
                    <a:pt x="66421" y="3873246"/>
                  </a:lnTo>
                  <a:lnTo>
                    <a:pt x="66421" y="3854196"/>
                  </a:lnTo>
                  <a:lnTo>
                    <a:pt x="66421" y="3873246"/>
                  </a:lnTo>
                  <a:cubicBezTo>
                    <a:pt x="29845" y="3873246"/>
                    <a:pt x="0" y="3843782"/>
                    <a:pt x="0" y="3807079"/>
                  </a:cubicBezTo>
                  <a:lnTo>
                    <a:pt x="0" y="66167"/>
                  </a:lnTo>
                  <a:lnTo>
                    <a:pt x="19050" y="66167"/>
                  </a:lnTo>
                  <a:lnTo>
                    <a:pt x="0" y="66167"/>
                  </a:lnTo>
                  <a:moveTo>
                    <a:pt x="38100" y="66167"/>
                  </a:moveTo>
                  <a:lnTo>
                    <a:pt x="38100" y="3807079"/>
                  </a:lnTo>
                  <a:lnTo>
                    <a:pt x="19050" y="3807079"/>
                  </a:lnTo>
                  <a:lnTo>
                    <a:pt x="38100" y="3807079"/>
                  </a:lnTo>
                  <a:cubicBezTo>
                    <a:pt x="38100" y="3822446"/>
                    <a:pt x="50673" y="3835146"/>
                    <a:pt x="66421" y="3835146"/>
                  </a:cubicBezTo>
                  <a:lnTo>
                    <a:pt x="10683621" y="3835146"/>
                  </a:lnTo>
                  <a:cubicBezTo>
                    <a:pt x="10699369" y="3835146"/>
                    <a:pt x="10711942" y="3822446"/>
                    <a:pt x="10711942" y="3807079"/>
                  </a:cubicBezTo>
                  <a:lnTo>
                    <a:pt x="10711942" y="66167"/>
                  </a:lnTo>
                  <a:cubicBezTo>
                    <a:pt x="10711942" y="50800"/>
                    <a:pt x="10699369" y="38100"/>
                    <a:pt x="10683621" y="38100"/>
                  </a:cubicBezTo>
                  <a:lnTo>
                    <a:pt x="66421" y="38100"/>
                  </a:lnTo>
                  <a:lnTo>
                    <a:pt x="66421" y="19050"/>
                  </a:lnTo>
                  <a:lnTo>
                    <a:pt x="66421" y="38100"/>
                  </a:lnTo>
                  <a:cubicBezTo>
                    <a:pt x="50673" y="38100"/>
                    <a:pt x="38100" y="50800"/>
                    <a:pt x="38100" y="66167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299058" y="6224806"/>
            <a:ext cx="8454538" cy="749264"/>
            <a:chOff x="0" y="0"/>
            <a:chExt cx="10635853" cy="94257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35869" cy="942594"/>
            </a:xfrm>
            <a:custGeom>
              <a:avLst/>
              <a:gdLst/>
              <a:ahLst/>
              <a:cxnLst/>
              <a:rect r="r" b="b" t="t" l="l"/>
              <a:pathLst>
                <a:path h="942594" w="10635869">
                  <a:moveTo>
                    <a:pt x="0" y="1397"/>
                  </a:moveTo>
                  <a:cubicBezTo>
                    <a:pt x="0" y="635"/>
                    <a:pt x="635" y="0"/>
                    <a:pt x="1397" y="0"/>
                  </a:cubicBezTo>
                  <a:lnTo>
                    <a:pt x="10634472" y="0"/>
                  </a:lnTo>
                  <a:cubicBezTo>
                    <a:pt x="10635234" y="0"/>
                    <a:pt x="10635869" y="635"/>
                    <a:pt x="10635869" y="1397"/>
                  </a:cubicBezTo>
                  <a:lnTo>
                    <a:pt x="10635869" y="941197"/>
                  </a:lnTo>
                  <a:cubicBezTo>
                    <a:pt x="10635869" y="941959"/>
                    <a:pt x="10635234" y="942594"/>
                    <a:pt x="10634472" y="942594"/>
                  </a:cubicBezTo>
                  <a:lnTo>
                    <a:pt x="1397" y="942594"/>
                  </a:lnTo>
                  <a:cubicBezTo>
                    <a:pt x="635" y="942594"/>
                    <a:pt x="0" y="941959"/>
                    <a:pt x="0" y="941197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3338932" y="6412820"/>
            <a:ext cx="374631" cy="42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4"/>
              </a:lnSpc>
            </a:pPr>
            <a:r>
              <a:rPr lang="en-US" sz="2914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548760" y="7214247"/>
            <a:ext cx="3122459" cy="39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1"/>
              </a:lnSpc>
            </a:pPr>
            <a:r>
              <a:rPr lang="en-US" sz="25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HostInfo.java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548760" y="7687831"/>
            <a:ext cx="7955134" cy="78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021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Modelo de datos que encapsula la información de cada host escaneado: dirección IP, nombre, estado y tiempo de respuesta.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000125"/>
            <a:ext cx="9021664" cy="803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Métodos y Tecnologías Clave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7" y="2691556"/>
            <a:ext cx="14861793" cy="830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3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El desarrollo de este escáner de red se basa en una selección estratégica de tecnologías y métodos de Java para asegurar un rendimiento óptimo y una experiencia de usuario fluida.</a:t>
            </a:r>
          </a:p>
        </p:txBody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46717" y="4385020"/>
            <a:ext cx="646453" cy="646453"/>
            <a:chOff x="0" y="0"/>
            <a:chExt cx="826888" cy="82688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26897" cy="826897"/>
            </a:xfrm>
            <a:custGeom>
              <a:avLst/>
              <a:gdLst/>
              <a:ahLst/>
              <a:cxnLst/>
              <a:rect r="r" b="b" t="t" l="l"/>
              <a:pathLst>
                <a:path h="826897" w="826897">
                  <a:moveTo>
                    <a:pt x="0" y="0"/>
                  </a:moveTo>
                  <a:lnTo>
                    <a:pt x="826897" y="0"/>
                  </a:lnTo>
                  <a:lnTo>
                    <a:pt x="826897" y="826897"/>
                  </a:lnTo>
                  <a:lnTo>
                    <a:pt x="0" y="826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16319" y="4528926"/>
            <a:ext cx="3232576" cy="41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54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Java Swing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6319" y="5011992"/>
            <a:ext cx="7366029" cy="126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19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Utilizado para construir una interfaz gráfica de usuario (GUI) robusta y multiplataforma, garantizando compatibilidad con diversos sistemas operativos.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9305497" y="4385020"/>
            <a:ext cx="646453" cy="646453"/>
            <a:chOff x="0" y="0"/>
            <a:chExt cx="826888" cy="826888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826897" cy="826897"/>
            </a:xfrm>
            <a:custGeom>
              <a:avLst/>
              <a:gdLst/>
              <a:ahLst/>
              <a:cxnLst/>
              <a:rect r="r" b="b" t="t" l="l"/>
              <a:pathLst>
                <a:path h="826897" w="826897">
                  <a:moveTo>
                    <a:pt x="0" y="0"/>
                  </a:moveTo>
                  <a:lnTo>
                    <a:pt x="826897" y="0"/>
                  </a:lnTo>
                  <a:lnTo>
                    <a:pt x="826897" y="826897"/>
                  </a:lnTo>
                  <a:lnTo>
                    <a:pt x="0" y="826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75099" y="4528926"/>
            <a:ext cx="3232576" cy="41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54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ProcessBuilder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75099" y="5011992"/>
            <a:ext cx="7366185" cy="126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19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Permite la ejecución de comandos de sistema, específicamente el comando ping, para realizar pruebas de conectividad de forma eficiente.</a:t>
            </a:r>
          </a:p>
        </p:txBody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646717" y="6865960"/>
            <a:ext cx="646453" cy="646453"/>
            <a:chOff x="0" y="0"/>
            <a:chExt cx="826888" cy="826888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826897" cy="826897"/>
            </a:xfrm>
            <a:custGeom>
              <a:avLst/>
              <a:gdLst/>
              <a:ahLst/>
              <a:cxnLst/>
              <a:rect r="r" b="b" t="t" l="l"/>
              <a:pathLst>
                <a:path h="826897" w="826897">
                  <a:moveTo>
                    <a:pt x="0" y="0"/>
                  </a:moveTo>
                  <a:lnTo>
                    <a:pt x="826897" y="0"/>
                  </a:lnTo>
                  <a:lnTo>
                    <a:pt x="826897" y="826897"/>
                  </a:lnTo>
                  <a:lnTo>
                    <a:pt x="0" y="826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616319" y="7009865"/>
            <a:ext cx="3232576" cy="41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54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InetAddress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16319" y="7492933"/>
            <a:ext cx="7366029" cy="126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19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Esencial para la resolución de nombres de host a partir de direcciones IP y viceversa, facilitando la identificación de dispositivos en la red.</a:t>
            </a:r>
          </a:p>
        </p:txBody>
      </p: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9305497" y="6865960"/>
            <a:ext cx="646453" cy="646453"/>
            <a:chOff x="0" y="0"/>
            <a:chExt cx="826888" cy="826888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826897" cy="826897"/>
            </a:xfrm>
            <a:custGeom>
              <a:avLst/>
              <a:gdLst/>
              <a:ahLst/>
              <a:cxnLst/>
              <a:rect r="r" b="b" t="t" l="l"/>
              <a:pathLst>
                <a:path h="826897" w="826897">
                  <a:moveTo>
                    <a:pt x="0" y="0"/>
                  </a:moveTo>
                  <a:lnTo>
                    <a:pt x="826897" y="0"/>
                  </a:lnTo>
                  <a:lnTo>
                    <a:pt x="826897" y="826897"/>
                  </a:lnTo>
                  <a:lnTo>
                    <a:pt x="0" y="826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275099" y="7009865"/>
            <a:ext cx="3232576" cy="41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54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Threads (Hilos)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75099" y="7492933"/>
            <a:ext cx="7366185" cy="126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19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Implementados para realizar el escaneo de red en segundo plano, evitando el bloqueo de la interfaz de usuario y manteniendo la aplicación responsiva.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30449" y="483096"/>
            <a:ext cx="11055400" cy="589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62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Desafíos Técnicos y Soluciones Implementadas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2601217" y="1935659"/>
            <a:ext cx="10287646" cy="4708326"/>
            <a:chOff x="0" y="0"/>
            <a:chExt cx="17447418" cy="7985125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7447388" cy="7985125"/>
            </a:xfrm>
            <a:custGeom>
              <a:avLst/>
              <a:gdLst/>
              <a:ahLst/>
              <a:cxnLst/>
              <a:rect r="r" b="b" t="t" l="l"/>
              <a:pathLst>
                <a:path h="7985125" w="17447388">
                  <a:moveTo>
                    <a:pt x="0" y="0"/>
                  </a:moveTo>
                  <a:lnTo>
                    <a:pt x="17447388" y="0"/>
                  </a:lnTo>
                  <a:lnTo>
                    <a:pt x="17447388" y="7985125"/>
                  </a:lnTo>
                  <a:lnTo>
                    <a:pt x="0" y="7985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" r="0" b="-13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1053904" y="3109268"/>
            <a:ext cx="660361" cy="660361"/>
            <a:chOff x="0" y="0"/>
            <a:chExt cx="1121790" cy="112179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121791" cy="1121791"/>
            </a:xfrm>
            <a:custGeom>
              <a:avLst/>
              <a:gdLst/>
              <a:ahLst/>
              <a:cxnLst/>
              <a:rect r="r" b="b" t="t" l="l"/>
              <a:pathLst>
                <a:path h="1121791" w="1121791">
                  <a:moveTo>
                    <a:pt x="0" y="0"/>
                  </a:moveTo>
                  <a:lnTo>
                    <a:pt x="1121791" y="0"/>
                  </a:lnTo>
                  <a:lnTo>
                    <a:pt x="1121791" y="1121791"/>
                  </a:lnTo>
                  <a:lnTo>
                    <a:pt x="0" y="1121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465563" y="5510475"/>
            <a:ext cx="1928256" cy="380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8"/>
              </a:lnSpc>
            </a:pPr>
            <a:r>
              <a:rPr lang="en-US" sz="1324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Soluciones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8636363" y="3110506"/>
            <a:ext cx="660360" cy="660361"/>
            <a:chOff x="0" y="0"/>
            <a:chExt cx="1121788" cy="112179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121791" cy="1121791"/>
            </a:xfrm>
            <a:custGeom>
              <a:avLst/>
              <a:gdLst/>
              <a:ahLst/>
              <a:cxnLst/>
              <a:rect r="r" b="b" t="t" l="l"/>
              <a:pathLst>
                <a:path h="1121791" w="1121791">
                  <a:moveTo>
                    <a:pt x="0" y="0"/>
                  </a:moveTo>
                  <a:lnTo>
                    <a:pt x="1121791" y="0"/>
                  </a:lnTo>
                  <a:lnTo>
                    <a:pt x="1121791" y="1121791"/>
                  </a:lnTo>
                  <a:lnTo>
                    <a:pt x="0" y="1121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035433" y="5324748"/>
            <a:ext cx="1928256" cy="75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8"/>
              </a:lnSpc>
            </a:pPr>
            <a:r>
              <a:rPr lang="en-US" sz="1324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Errores de escaneo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6219439" y="3110506"/>
            <a:ext cx="660361" cy="660361"/>
            <a:chOff x="0" y="0"/>
            <a:chExt cx="1121790" cy="112179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121791" cy="1121791"/>
            </a:xfrm>
            <a:custGeom>
              <a:avLst/>
              <a:gdLst/>
              <a:ahLst/>
              <a:cxnLst/>
              <a:rect r="r" b="b" t="t" l="l"/>
              <a:pathLst>
                <a:path h="1121791" w="1121791">
                  <a:moveTo>
                    <a:pt x="0" y="0"/>
                  </a:moveTo>
                  <a:lnTo>
                    <a:pt x="1121791" y="0"/>
                  </a:lnTo>
                  <a:lnTo>
                    <a:pt x="1121791" y="1121791"/>
                  </a:lnTo>
                  <a:lnTo>
                    <a:pt x="0" y="1121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618510" y="5510475"/>
            <a:ext cx="1928255" cy="380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8"/>
              </a:lnSpc>
            </a:pPr>
            <a:r>
              <a:rPr lang="en-US" sz="1324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Bloqueo UI</a:t>
            </a: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3789309" y="3110506"/>
            <a:ext cx="660362" cy="660361"/>
            <a:chOff x="0" y="0"/>
            <a:chExt cx="1121792" cy="112179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121791" cy="1121791"/>
            </a:xfrm>
            <a:custGeom>
              <a:avLst/>
              <a:gdLst/>
              <a:ahLst/>
              <a:cxnLst/>
              <a:rect r="r" b="b" t="t" l="l"/>
              <a:pathLst>
                <a:path h="1121791" w="1121791">
                  <a:moveTo>
                    <a:pt x="0" y="0"/>
                  </a:moveTo>
                  <a:lnTo>
                    <a:pt x="1121791" y="0"/>
                  </a:lnTo>
                  <a:lnTo>
                    <a:pt x="1121791" y="1121791"/>
                  </a:lnTo>
                  <a:lnTo>
                    <a:pt x="0" y="1121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3148758" y="5324748"/>
            <a:ext cx="1928255" cy="75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8"/>
              </a:lnSpc>
            </a:pPr>
            <a:r>
              <a:rPr lang="en-US" sz="1324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Dependencia 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0449" y="6165982"/>
            <a:ext cx="16827104" cy="37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7279" indent="-153639" lvl="1">
              <a:lnSpc>
                <a:spcPts val="3189"/>
              </a:lnSpc>
              <a:buFont typeface="Arial"/>
              <a:buChar char="•"/>
            </a:pPr>
            <a:r>
              <a:rPr lang="en-US" b="true" sz="2037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Dependencia del sistema operativo:</a:t>
            </a:r>
            <a:r>
              <a:rPr lang="en-US" sz="203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El comando ping varía (ej. ping -n en Windows).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0449" y="6706993"/>
            <a:ext cx="16827104" cy="772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804" indent="-304935" lvl="2">
              <a:lnSpc>
                <a:spcPts val="3189"/>
              </a:lnSpc>
              <a:buFont typeface="Arial"/>
              <a:buChar char="⚬"/>
            </a:pPr>
            <a:r>
              <a:rPr lang="en-US" sz="2037">
                <a:solidFill>
                  <a:srgbClr val="5CC97B"/>
                </a:solidFill>
                <a:latin typeface="Tomorrow"/>
                <a:ea typeface="Tomorrow"/>
                <a:cs typeface="Tomorrow"/>
                <a:sym typeface="Tomorrow"/>
              </a:rPr>
              <a:t>Solución: Se implementó lógica condicional para adaptar el comando </a:t>
            </a:r>
            <a:r>
              <a:rPr lang="en-US" sz="203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ping</a:t>
            </a:r>
            <a:r>
              <a:rPr lang="en-US" sz="2037">
                <a:solidFill>
                  <a:srgbClr val="5CC97B"/>
                </a:solidFill>
                <a:latin typeface="Tomorrow"/>
                <a:ea typeface="Tomorrow"/>
                <a:cs typeface="Tomorrow"/>
                <a:sym typeface="Tomorrow"/>
              </a:rPr>
              <a:t> según el sistema operativo detectado, asegurando la compatibilidad.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0449" y="7542273"/>
            <a:ext cx="16827104" cy="37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7279" indent="-153639" lvl="1">
              <a:lnSpc>
                <a:spcPts val="3189"/>
              </a:lnSpc>
              <a:buFont typeface="Arial"/>
              <a:buChar char="•"/>
            </a:pPr>
            <a:r>
              <a:rPr lang="en-US" b="true" sz="2037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Bloqueo de la interfaz de usuario durante el escaneo:</a:t>
            </a:r>
            <a:r>
              <a:rPr lang="en-US" sz="203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Operaciones largas pueden congelar la GUI.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0449" y="7971493"/>
            <a:ext cx="16827104" cy="772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804" indent="-304935" lvl="2">
              <a:lnSpc>
                <a:spcPts val="3189"/>
              </a:lnSpc>
              <a:buFont typeface="Arial"/>
              <a:buChar char="⚬"/>
            </a:pPr>
            <a:r>
              <a:rPr lang="en-US" sz="2037">
                <a:solidFill>
                  <a:srgbClr val="5CC97B"/>
                </a:solidFill>
                <a:latin typeface="Tomorrow"/>
                <a:ea typeface="Tomorrow"/>
                <a:cs typeface="Tomorrow"/>
                <a:sym typeface="Tomorrow"/>
              </a:rPr>
              <a:t>Solución: Se utilizó programación multihilo (</a:t>
            </a:r>
            <a:r>
              <a:rPr lang="en-US" sz="203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Threads</a:t>
            </a:r>
            <a:r>
              <a:rPr lang="en-US" sz="2037">
                <a:solidFill>
                  <a:srgbClr val="5CC97B"/>
                </a:solidFill>
                <a:latin typeface="Tomorrow"/>
                <a:ea typeface="Tomorrow"/>
                <a:cs typeface="Tomorrow"/>
                <a:sym typeface="Tomorrow"/>
              </a:rPr>
              <a:t>) para ejecutar el escaneo en segundo plano, manteniendo la interfaz gráfica responsiva.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0449" y="8800914"/>
            <a:ext cx="16827104" cy="37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7279" indent="-153639" lvl="1">
              <a:lnSpc>
                <a:spcPts val="3189"/>
              </a:lnSpc>
              <a:buFont typeface="Arial"/>
              <a:buChar char="•"/>
            </a:pPr>
            <a:r>
              <a:rPr lang="en-US" b="true" sz="2037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Errores inesperados durante el escaneo:</a:t>
            </a:r>
            <a:r>
              <a:rPr lang="en-US" sz="203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Posibles fallos de red o configuración.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0448" y="9258860"/>
            <a:ext cx="16827104" cy="772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804" indent="-304935" lvl="2">
              <a:lnSpc>
                <a:spcPts val="3189"/>
              </a:lnSpc>
              <a:buFont typeface="Arial"/>
              <a:buChar char="⚬"/>
            </a:pPr>
            <a:r>
              <a:rPr lang="en-US" sz="2037">
                <a:solidFill>
                  <a:srgbClr val="5CC97B"/>
                </a:solidFill>
                <a:latin typeface="Tomorrow"/>
                <a:ea typeface="Tomorrow"/>
                <a:cs typeface="Tomorrow"/>
                <a:sym typeface="Tomorrow"/>
              </a:rPr>
              <a:t>Solución: Se incluyó un robusto manejo de excepciones y se diseñaron mensajes de error claros para guiar al usuario en la resolución de problemas.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3038" y="612576"/>
            <a:ext cx="8841135" cy="803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Futuras Mejoras Potenciales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550319"/>
            <a:ext cx="16303526" cy="87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El escáner de red ofrece una base sólida, pero existen diversas áreas para expandir sus capacidades y mejorar la experiencia del usuario, incluyendo: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708946"/>
            <a:ext cx="558105" cy="558105"/>
            <a:chOff x="0" y="0"/>
            <a:chExt cx="744140" cy="744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4220" cy="744220"/>
            </a:xfrm>
            <a:custGeom>
              <a:avLst/>
              <a:gdLst/>
              <a:ahLst/>
              <a:cxnLst/>
              <a:rect r="r" b="b" t="t" l="l"/>
              <a:pathLst>
                <a:path h="744220" w="744220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94563" y="0"/>
                  </a:lnTo>
                  <a:cubicBezTo>
                    <a:pt x="721995" y="0"/>
                    <a:pt x="744220" y="22225"/>
                    <a:pt x="744220" y="49657"/>
                  </a:cubicBezTo>
                  <a:lnTo>
                    <a:pt x="744220" y="694563"/>
                  </a:lnTo>
                  <a:cubicBezTo>
                    <a:pt x="744220" y="721995"/>
                    <a:pt x="721995" y="744220"/>
                    <a:pt x="694563" y="744220"/>
                  </a:cubicBezTo>
                  <a:lnTo>
                    <a:pt x="49657" y="744220"/>
                  </a:lnTo>
                  <a:cubicBezTo>
                    <a:pt x="22225" y="744093"/>
                    <a:pt x="0" y="721868"/>
                    <a:pt x="0" y="694563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85255" y="3803080"/>
            <a:ext cx="372070" cy="417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874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98290" y="3784699"/>
            <a:ext cx="340491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Escaneo en paralelo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98290" y="4678784"/>
            <a:ext cx="7190631" cy="1198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6"/>
              </a:lnSpc>
            </a:pPr>
            <a:r>
              <a:rPr lang="en-US" sz="203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Implementar la capacidad de escanear múltiples rangos o hosts simultáneamente utilizando hilos adicionales, reduciendo drásticamente el tiempo de escaneo.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98930" y="3708946"/>
            <a:ext cx="558105" cy="558105"/>
            <a:chOff x="0" y="0"/>
            <a:chExt cx="744140" cy="7441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4220" cy="744220"/>
            </a:xfrm>
            <a:custGeom>
              <a:avLst/>
              <a:gdLst/>
              <a:ahLst/>
              <a:cxnLst/>
              <a:rect r="r" b="b" t="t" l="l"/>
              <a:pathLst>
                <a:path h="744220" w="744220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94563" y="0"/>
                  </a:lnTo>
                  <a:cubicBezTo>
                    <a:pt x="721995" y="0"/>
                    <a:pt x="744220" y="22225"/>
                    <a:pt x="744220" y="49657"/>
                  </a:cubicBezTo>
                  <a:lnTo>
                    <a:pt x="744220" y="694563"/>
                  </a:lnTo>
                  <a:cubicBezTo>
                    <a:pt x="744220" y="721995"/>
                    <a:pt x="721995" y="744220"/>
                    <a:pt x="694563" y="744220"/>
                  </a:cubicBezTo>
                  <a:lnTo>
                    <a:pt x="49657" y="744220"/>
                  </a:lnTo>
                  <a:cubicBezTo>
                    <a:pt x="22225" y="744093"/>
                    <a:pt x="0" y="721868"/>
                    <a:pt x="0" y="694563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391947" y="3803080"/>
            <a:ext cx="372070" cy="417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874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04984" y="3699421"/>
            <a:ext cx="423050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Configuración avanzada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04984" y="4470797"/>
            <a:ext cx="7190780" cy="160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6"/>
              </a:lnSpc>
            </a:pPr>
            <a:r>
              <a:rPr lang="en-US" sz="203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Añadir opciones de configuración para el usuario, como la posibilidad de ajustar el timeout de los pings, el número de intentos, o especificar opciones adicionales del comando ping.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2238" y="6433542"/>
            <a:ext cx="558105" cy="558105"/>
            <a:chOff x="0" y="0"/>
            <a:chExt cx="744140" cy="7441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4220" cy="744220"/>
            </a:xfrm>
            <a:custGeom>
              <a:avLst/>
              <a:gdLst/>
              <a:ahLst/>
              <a:cxnLst/>
              <a:rect r="r" b="b" t="t" l="l"/>
              <a:pathLst>
                <a:path h="744220" w="744220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94563" y="0"/>
                  </a:lnTo>
                  <a:cubicBezTo>
                    <a:pt x="721995" y="0"/>
                    <a:pt x="744220" y="22225"/>
                    <a:pt x="744220" y="49657"/>
                  </a:cubicBezTo>
                  <a:lnTo>
                    <a:pt x="744220" y="694563"/>
                  </a:lnTo>
                  <a:cubicBezTo>
                    <a:pt x="744220" y="721995"/>
                    <a:pt x="721995" y="744220"/>
                    <a:pt x="694563" y="744220"/>
                  </a:cubicBezTo>
                  <a:lnTo>
                    <a:pt x="49657" y="744220"/>
                  </a:lnTo>
                  <a:cubicBezTo>
                    <a:pt x="22225" y="744093"/>
                    <a:pt x="0" y="721868"/>
                    <a:pt x="0" y="694563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85255" y="6527676"/>
            <a:ext cx="372070" cy="41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874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98290" y="6509296"/>
            <a:ext cx="340491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Escaneo de puertos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98290" y="7574533"/>
            <a:ext cx="7190631" cy="1198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6"/>
              </a:lnSpc>
            </a:pPr>
            <a:r>
              <a:rPr lang="en-US" sz="203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Integrar una función de escaneo de puertos comunes (ej. 80, 443, 22) para identificar servicios activos en los dispositivos, como servidores web o SSH.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98930" y="6433542"/>
            <a:ext cx="558105" cy="558105"/>
            <a:chOff x="0" y="0"/>
            <a:chExt cx="744140" cy="7441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44220" cy="744220"/>
            </a:xfrm>
            <a:custGeom>
              <a:avLst/>
              <a:gdLst/>
              <a:ahLst/>
              <a:cxnLst/>
              <a:rect r="r" b="b" t="t" l="l"/>
              <a:pathLst>
                <a:path h="744220" w="744220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94563" y="0"/>
                  </a:lnTo>
                  <a:cubicBezTo>
                    <a:pt x="721995" y="0"/>
                    <a:pt x="744220" y="22225"/>
                    <a:pt x="744220" y="49657"/>
                  </a:cubicBezTo>
                  <a:lnTo>
                    <a:pt x="744220" y="694563"/>
                  </a:lnTo>
                  <a:cubicBezTo>
                    <a:pt x="744220" y="721995"/>
                    <a:pt x="721995" y="744220"/>
                    <a:pt x="694563" y="744220"/>
                  </a:cubicBezTo>
                  <a:lnTo>
                    <a:pt x="49657" y="744220"/>
                  </a:lnTo>
                  <a:cubicBezTo>
                    <a:pt x="22225" y="744093"/>
                    <a:pt x="0" y="721868"/>
                    <a:pt x="0" y="694563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391947" y="6527676"/>
            <a:ext cx="372070" cy="41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874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04984" y="6509296"/>
            <a:ext cx="324809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Mejoras en la UI/UX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68520" y="7574533"/>
            <a:ext cx="7190780" cy="160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6"/>
              </a:lnSpc>
            </a:pPr>
            <a:r>
              <a:rPr lang="en-US" sz="203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Desarrollar funcionalidades adicionales en la interfaz gráfica, como opciones para ordenar y filtrar los resultados de la tabla, y exportar datos en diferentes formatos.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000125"/>
            <a:ext cx="9556849" cy="803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Requisitos de Funcionamiento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207173"/>
            <a:ext cx="16303526" cy="87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Para garantizar la correcta ejecución del escáner de red, es necesario cumplir con los siguientes requisitos técnicos en su entorno de trabajo: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8268" y="4544709"/>
            <a:ext cx="16303526" cy="830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2362" indent="-161181" lvl="1">
              <a:lnSpc>
                <a:spcPts val="3447"/>
              </a:lnSpc>
              <a:buFont typeface="Arial"/>
              <a:buChar char="•"/>
            </a:pPr>
            <a:r>
              <a:rPr lang="en-US" b="true" sz="2137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JDK 8 o superior:</a:t>
            </a:r>
            <a:r>
              <a:rPr lang="en-US" sz="213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Asegúrese de tener instalado el Kit de Desarrollo de Java (JDK) en su versión 8 o posterior. Esto es fundamental para compilar y ejecutar aplicaciones Java.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8268" y="5881483"/>
            <a:ext cx="16303526" cy="830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2362" indent="-161181" lvl="1">
              <a:lnSpc>
                <a:spcPts val="3447"/>
              </a:lnSpc>
              <a:buFont typeface="Arial"/>
              <a:buChar char="•"/>
            </a:pPr>
            <a:r>
              <a:rPr lang="en-US" b="true" sz="2137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Sistema operativo Windows:</a:t>
            </a:r>
            <a:r>
              <a:rPr lang="en-US" sz="213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El programa está optimizado y probado para funcionar en entornos Windows, aprovechando comandos específicos de este sistema operativo para el funcionamiento del ping.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8268" y="7227782"/>
            <a:ext cx="16303526" cy="1259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2362" indent="-161181" lvl="1">
              <a:lnSpc>
                <a:spcPts val="3447"/>
              </a:lnSpc>
              <a:buFont typeface="Arial"/>
              <a:buChar char="•"/>
            </a:pPr>
            <a:r>
              <a:rPr lang="en-US" b="true" sz="2137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IDE (IntelliJ, Eclipse o NetBeans):</a:t>
            </a:r>
            <a:r>
              <a:rPr lang="en-US" sz="213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Se recomienda utilizar un Entorno de Desarrollo Integrado (IDE) como IntelliJ IDEA, Eclipse o Apache NetBeans. Estos IDEs facilitan la importación del proyecto, la compilación y la ejecución del código de manera eficiente.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" y="-43309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000125"/>
            <a:ext cx="7339756" cy="803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Instalación y Ejecución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3694" y="4268966"/>
            <a:ext cx="4181497" cy="40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637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Descargar los archivos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0431" y="5234339"/>
            <a:ext cx="5269111" cy="1806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223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Obtenga el código fuente del escáner de red desde el repositorio indicado. Puede descargar un archivo ZIP o clonar el repositorio utilizando Git.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91027" y="4268966"/>
            <a:ext cx="3101131" cy="40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637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Abrir en un IDE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91027" y="5234339"/>
            <a:ext cx="5013469" cy="3178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223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Abra su IDE preferido (IntelliJ, Eclipse o NetBeans) y seleccione la opción para abrir un proyecto existente. Navegue hasta la carpeta donde descargó los archivos del escáner de red y ábrala como un proyecto Java.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55462" y="4268966"/>
            <a:ext cx="3659222" cy="40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637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Compilar y ejecutar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08458" y="5234339"/>
            <a:ext cx="5269111" cy="2721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223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Una vez que el proyecto esté cargado en el IDE, busque el archivo Main.java. Haga clic derecho sobre él y seleccione la opción "Run" o "Ejecutar". El IDE se encargará de compilar el código y lanzar la aplicación.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488579"/>
            <a:ext cx="7563594" cy="803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Guía de Uso Paso a Paso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476298"/>
            <a:ext cx="16303526" cy="78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7281" indent="-153640" lvl="1">
              <a:lnSpc>
                <a:spcPts val="3286"/>
              </a:lnSpc>
              <a:buAutoNum type="arabicPeriod" startAt="1"/>
            </a:pPr>
            <a:r>
              <a:rPr lang="en-US" b="true" sz="2037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Ingresar rango de IPs:</a:t>
            </a:r>
            <a:r>
              <a:rPr lang="en-US" sz="203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En los campos designados, introduzca la dirección IP inicial y final del rango que desea escanear. Por ejemplo: 192.168.1.1 a 192.168.1.254.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711147"/>
            <a:ext cx="16303526" cy="78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7281" indent="-153640" lvl="1">
              <a:lnSpc>
                <a:spcPts val="3286"/>
              </a:lnSpc>
              <a:buAutoNum type="arabicPeriod" startAt="1"/>
            </a:pPr>
            <a:r>
              <a:rPr lang="en-US" b="true" sz="2037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Seleccionar tiempo de espera:</a:t>
            </a:r>
            <a:r>
              <a:rPr lang="en-US" sz="203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Utilice el menú desplegable para elegir el tiempo máximo de espera (timeout) para la respuesta de cada ping. Un valor más alto puede ser necesario en redes lentas.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947328"/>
            <a:ext cx="16303526" cy="78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7281" indent="-153640" lvl="1">
              <a:lnSpc>
                <a:spcPts val="3286"/>
              </a:lnSpc>
              <a:buAutoNum type="arabicPeriod" startAt="1"/>
            </a:pPr>
            <a:r>
              <a:rPr lang="en-US" b="true" sz="2037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Presionar 'Escanear':</a:t>
            </a:r>
            <a:r>
              <a:rPr lang="en-US" sz="203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Una vez configurado el rango y el tiempo de espera, haga clic en el botón "Escanear" para iniciar el proceso de descubrimiento de hosts.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183509"/>
            <a:ext cx="16303526" cy="78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7281" indent="-153640" lvl="1">
              <a:lnSpc>
                <a:spcPts val="3286"/>
              </a:lnSpc>
              <a:buAutoNum type="arabicPeriod" startAt="1"/>
            </a:pPr>
            <a:r>
              <a:rPr lang="en-US" b="true" sz="2037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Ver resultados en tabla:</a:t>
            </a:r>
            <a:r>
              <a:rPr lang="en-US" sz="203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Los resultados se irán mostrando en tiempo real en la tabla principal, con columnas para la dirección IP, el nombre del host, el estado de conectividad (activo/inactivo) y el tiempo de respuesta.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8419690"/>
            <a:ext cx="16303526" cy="78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7281" indent="-153640" lvl="1">
              <a:lnSpc>
                <a:spcPts val="3286"/>
              </a:lnSpc>
              <a:buAutoNum type="arabicPeriod" startAt="1"/>
            </a:pPr>
            <a:r>
              <a:rPr lang="en-US" b="true" sz="2037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Guardar en CSV o limpiar:</a:t>
            </a:r>
            <a:r>
              <a:rPr lang="en-US" sz="203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Al finalizar el escaneo, tiene la opción de guardar los resultados en un archivo CSV para análisis posteriores, o limpiar la interfaz para un nuevo escaneo.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735257"/>
            <a:ext cx="7346305" cy="96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3000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Escenarios de Uso y Ejemplos Prácticos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005257"/>
            <a:ext cx="2560490" cy="638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000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Escanear la red local completa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870472"/>
            <a:ext cx="7346305" cy="1190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00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Uso:</a:t>
            </a: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Descubrir todos los dispositivos conectados a su red doméstica o de oficina, incluyendo ordenadores, impresoras, routers y dispositivos IoT.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300361"/>
            <a:ext cx="7346305" cy="1591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00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Ejemplo:</a:t>
            </a: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Ingrese 192.168.1.1 como IP inicial y 192.168.1.254 como IP final (o el rango correspondiente a su segmento de red local). Esto le proporcionará un listado de todos los equipos activos en ese segmento.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028700" y="6152442"/>
            <a:ext cx="3105858" cy="3105858"/>
            <a:chOff x="0" y="0"/>
            <a:chExt cx="7164587" cy="7164587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164578" cy="7164578"/>
            </a:xfrm>
            <a:custGeom>
              <a:avLst/>
              <a:gdLst/>
              <a:ahLst/>
              <a:cxnLst/>
              <a:rect r="r" b="b" t="t" l="l"/>
              <a:pathLst>
                <a:path h="7164578" w="7164578">
                  <a:moveTo>
                    <a:pt x="0" y="0"/>
                  </a:moveTo>
                  <a:lnTo>
                    <a:pt x="7164578" y="0"/>
                  </a:lnTo>
                  <a:lnTo>
                    <a:pt x="7164578" y="7164578"/>
                  </a:lnTo>
                  <a:lnTo>
                    <a:pt x="0" y="71645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331077" y="2105269"/>
            <a:ext cx="3890219" cy="638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000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Verificar la conectividad de un solo equipo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31077" y="3070497"/>
            <a:ext cx="8070354" cy="79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00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Uso:</a:t>
            </a: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Confirmar rápidamente si un dispositivo específico (ej. un servidor, una cámara IP) está conectado y accesible en la red.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31078" y="4300361"/>
            <a:ext cx="8070354" cy="1591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00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Ejemplo:</a:t>
            </a: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Si desea verificar la conectividad de un servidor cuya IP es 192.168.1.100, simplemente ingrese esta misma dirección en los campos de IP inicial y IP final. Esto realizará un ping directo a ese dispositivo.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9331077" y="6152442"/>
            <a:ext cx="3105858" cy="3105858"/>
            <a:chOff x="0" y="0"/>
            <a:chExt cx="7047508" cy="704750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7047484" cy="7047484"/>
            </a:xfrm>
            <a:custGeom>
              <a:avLst/>
              <a:gdLst/>
              <a:ahLst/>
              <a:cxnLst/>
              <a:rect r="r" b="b" t="t" l="l"/>
              <a:pathLst>
                <a:path h="7047484" w="7047484">
                  <a:moveTo>
                    <a:pt x="0" y="0"/>
                  </a:moveTo>
                  <a:lnTo>
                    <a:pt x="7047484" y="0"/>
                  </a:lnTo>
                  <a:lnTo>
                    <a:pt x="7047484" y="7047484"/>
                  </a:lnTo>
                  <a:lnTo>
                    <a:pt x="0" y="70474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DAGwen50dfw</dc:identifier>
  <dcterms:modified xsi:type="dcterms:W3CDTF">2011-08-01T06:04:30Z</dcterms:modified>
  <cp:revision>1</cp:revision>
  <dc:title>Escaner-de-Red.pptx</dc:title>
</cp:coreProperties>
</file>